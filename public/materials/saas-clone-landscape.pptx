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800">
                <a:latin typeface="Aptos Display"/>
              </a:defRPr>
            </a:pPr>
            <a:r>
              <a:t>SaaS Clone Learning Landscape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latin typeface="Aptos"/>
              </a:defRPr>
            </a:pPr>
            <a:r>
              <a:t>Executive material deck generated from research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1042416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latin typeface="Aptos"/>
              </a:defRPr>
            </a:pPr>
            <a:r>
              <a:t>Scope: 40+ verified SaaS platforms for educational cloning</a:t>
            </a:r>
          </a:p>
          <a:p>
            <a:pPr>
              <a:spcAft>
                <a:spcPts val="1000"/>
              </a:spcAft>
              <a:defRPr sz="2000">
                <a:latin typeface="Aptos"/>
              </a:defRPr>
            </a:pPr>
            <a:r>
              <a:t>Focus: practical learning value, complexity, and execution timeline</a:t>
            </a:r>
          </a:p>
          <a:p>
            <a:pPr>
              <a:spcAft>
                <a:spcPts val="1000"/>
              </a:spcAft>
              <a:defRPr sz="2000">
                <a:latin typeface="Aptos"/>
              </a:defRPr>
            </a:pPr>
            <a:r>
              <a:t>Region context: global tools with stack-ready implementation guidance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latin typeface="Aptos Display"/>
              </a:defRPr>
            </a:pPr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400">
                <a:latin typeface="Aptos"/>
              </a:defRPr>
            </a:pPr>
            <a:r>
              <a:t>Project management and communication products dominate learning resources</a:t>
            </a:r>
          </a:p>
          <a:p>
            <a:pPr>
              <a:spcAft>
                <a:spcPts val="1000"/>
              </a:spcAft>
              <a:defRPr sz="2400">
                <a:latin typeface="Aptos"/>
              </a:defRPr>
            </a:pPr>
            <a:r>
              <a:t>Highest value sits in medium complexity apps with 8-12 week MVP timelines</a:t>
            </a:r>
          </a:p>
          <a:p>
            <a:pPr>
              <a:spcAft>
                <a:spcPts val="1000"/>
              </a:spcAft>
              <a:defRPr sz="2400">
                <a:latin typeface="Aptos"/>
              </a:defRPr>
            </a:pPr>
            <a:r>
              <a:t>AI coding agents compress build cycles for sophisticated clones</a:t>
            </a:r>
          </a:p>
          <a:p>
            <a:pPr>
              <a:spcAft>
                <a:spcPts val="1000"/>
              </a:spcAft>
              <a:defRPr sz="2400">
                <a:latin typeface="Aptos"/>
              </a:defRPr>
            </a:pPr>
            <a:r>
              <a:t>Only around 15-20 platforms currently have end-to-end clone tutorials</a:t>
            </a:r>
          </a:p>
          <a:p>
            <a:pPr>
              <a:spcAft>
                <a:spcPts val="1000"/>
              </a:spcAft>
              <a:defRPr sz="2400">
                <a:latin typeface="Aptos"/>
              </a:defRPr>
            </a:pPr>
            <a:r>
              <a:t>Stack-specific guides (Next.js + PostgreSQL + Prisma) outperform generic tutorials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latin typeface="Aptos Display"/>
              </a:defRPr>
            </a:pPr>
            <a:r>
              <a:t>Category Distribution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400">
                <a:latin typeface="Aptos"/>
              </a:defRPr>
            </a:pPr>
            <a:r>
              <a:t>Project Management and Collaboration: 8 tools (avg score 8.2)</a:t>
            </a:r>
          </a:p>
          <a:p>
            <a:pPr>
              <a:spcAft>
                <a:spcPts val="1000"/>
              </a:spcAft>
              <a:defRPr sz="2400">
                <a:latin typeface="Aptos"/>
              </a:defRPr>
            </a:pPr>
            <a:r>
              <a:t>Communication and Messaging: 6 tools (avg score 7.8)</a:t>
            </a:r>
          </a:p>
          <a:p>
            <a:pPr>
              <a:spcAft>
                <a:spcPts val="1000"/>
              </a:spcAft>
              <a:defRPr sz="2400">
                <a:latin typeface="Aptos"/>
              </a:defRPr>
            </a:pPr>
            <a:r>
              <a:t>Developer Tools and Infrastructure: 7 tools (avg score 7.6)</a:t>
            </a:r>
          </a:p>
          <a:p>
            <a:pPr>
              <a:spcAft>
                <a:spcPts val="1000"/>
              </a:spcAft>
              <a:defRPr sz="2400">
                <a:latin typeface="Aptos"/>
              </a:defRPr>
            </a:pPr>
            <a:r>
              <a:t>Scheduling and Booking: 3 tools (avg score 7.3)</a:t>
            </a:r>
          </a:p>
          <a:p>
            <a:pPr>
              <a:spcAft>
                <a:spcPts val="1000"/>
              </a:spcAft>
              <a:defRPr sz="2400">
                <a:latin typeface="Aptos"/>
              </a:defRPr>
            </a:pPr>
            <a:r>
              <a:t>AI/ML Application Platforms: 4 tools (avg score 7.0)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latin typeface="Aptos Display"/>
              </a:defRPr>
            </a:pPr>
            <a:r>
              <a:t>Complexity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400">
                <a:latin typeface="Aptos"/>
              </a:defRPr>
            </a:pPr>
            <a:r>
              <a:t>Beginner (12): 4-6 week MVP, CRUD-heavy, minimal realtime</a:t>
            </a:r>
          </a:p>
          <a:p>
            <a:pPr>
              <a:spcAft>
                <a:spcPts val="1000"/>
              </a:spcAft>
              <a:defRPr sz="2400">
                <a:latin typeface="Aptos"/>
              </a:defRPr>
            </a:pPr>
            <a:r>
              <a:t>Intermediate (18): 8-12 week MVP, early multi-tenant + websockets</a:t>
            </a:r>
          </a:p>
          <a:p>
            <a:pPr>
              <a:spcAft>
                <a:spcPts val="1000"/>
              </a:spcAft>
              <a:defRPr sz="2400">
                <a:latin typeface="Aptos"/>
              </a:defRPr>
            </a:pPr>
            <a:r>
              <a:t>Advanced (13): 12-16+ weeks, CRDT/offline-first/scaling concerns</a:t>
            </a:r>
          </a:p>
          <a:p>
            <a:pPr>
              <a:spcAft>
                <a:spcPts val="1000"/>
              </a:spcAft>
              <a:defRPr sz="2400">
                <a:latin typeface="Aptos"/>
              </a:defRPr>
            </a:pPr>
            <a:r>
              <a:t>Observed risk: teams underestimate production complexity by 30-50%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latin typeface="Aptos Display"/>
              </a:defRPr>
            </a:pPr>
            <a:r>
              <a:t>Tier 1 Target #1: Linear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400">
                <a:latin typeface="Aptos"/>
              </a:defRPr>
            </a:pPr>
            <a:r>
              <a:t>Composite score: 8.8 and portfolio value: 10/10</a:t>
            </a:r>
          </a:p>
          <a:p>
            <a:pPr>
              <a:spcAft>
                <a:spcPts val="1000"/>
              </a:spcAft>
              <a:defRPr sz="2400">
                <a:latin typeface="Aptos"/>
              </a:defRPr>
            </a:pPr>
            <a:r>
              <a:t>Best for performance-first SaaS engineering and keyboard UX architecture</a:t>
            </a:r>
          </a:p>
          <a:p>
            <a:pPr>
              <a:spcAft>
                <a:spcPts val="1000"/>
              </a:spcAft>
              <a:defRPr sz="2400">
                <a:latin typeface="Aptos"/>
              </a:defRPr>
            </a:pPr>
            <a:r>
              <a:t>Core challenges: optimistic UI, realtime sync, advanced filtering, git integration</a:t>
            </a:r>
          </a:p>
          <a:p>
            <a:pPr>
              <a:spcAft>
                <a:spcPts val="1000"/>
              </a:spcAft>
              <a:defRPr sz="2400">
                <a:latin typeface="Aptos"/>
              </a:defRPr>
            </a:pPr>
            <a:r>
              <a:t>MVP estimate: 8-10 weeks (can be compressed with AI assistance)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latin typeface="Aptos Display"/>
              </a:defRPr>
            </a:pPr>
            <a:r>
              <a:t>Tier 1 Target #2: Notion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400">
                <a:latin typeface="Aptos"/>
              </a:defRPr>
            </a:pPr>
            <a:r>
              <a:t>Composite score: 8.5 and technical challenge: 10/10</a:t>
            </a:r>
          </a:p>
          <a:p>
            <a:pPr>
              <a:spcAft>
                <a:spcPts val="1000"/>
              </a:spcAft>
              <a:defRPr sz="2400">
                <a:latin typeface="Aptos"/>
              </a:defRPr>
            </a:pPr>
            <a:r>
              <a:t>Strong learning across block editors, recursive data models, and collaboration</a:t>
            </a:r>
          </a:p>
          <a:p>
            <a:pPr>
              <a:spcAft>
                <a:spcPts val="1000"/>
              </a:spcAft>
              <a:defRPr sz="2400">
                <a:latin typeface="Aptos"/>
              </a:defRPr>
            </a:pPr>
            <a:r>
              <a:t>Core challenges: CRDT merge logic, nested permissions, full-text search</a:t>
            </a:r>
          </a:p>
          <a:p>
            <a:pPr>
              <a:spcAft>
                <a:spcPts val="1000"/>
              </a:spcAft>
              <a:defRPr sz="2400">
                <a:latin typeface="Aptos"/>
              </a:defRPr>
            </a:pPr>
            <a:r>
              <a:t>MVP estimate: 10-12 weeks for solo mode, 20+ weeks for collaboration features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latin typeface="Aptos Display"/>
              </a:defRPr>
            </a:pPr>
            <a:r>
              <a:t>Tier 1 Target #3: Slack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400">
                <a:latin typeface="Aptos"/>
              </a:defRPr>
            </a:pPr>
            <a:r>
              <a:t>Composite score: 8.5 with excellent realtime systems exposure</a:t>
            </a:r>
          </a:p>
          <a:p>
            <a:pPr>
              <a:spcAft>
                <a:spcPts val="1000"/>
              </a:spcAft>
              <a:defRPr sz="2400">
                <a:latin typeface="Aptos"/>
              </a:defRPr>
            </a:pPr>
            <a:r>
              <a:t>Core features: channels, DM, threads, file sharing, notification preferences</a:t>
            </a:r>
          </a:p>
          <a:p>
            <a:pPr>
              <a:spcAft>
                <a:spcPts val="1000"/>
              </a:spcAft>
              <a:defRPr sz="2400">
                <a:latin typeface="Aptos"/>
              </a:defRPr>
            </a:pPr>
            <a:r>
              <a:t>Core challenges: websocket scaling, message persistence, realtime search indexing</a:t>
            </a:r>
          </a:p>
          <a:p>
            <a:pPr>
              <a:spcAft>
                <a:spcPts val="1000"/>
              </a:spcAft>
              <a:defRPr sz="2400">
                <a:latin typeface="Aptos"/>
              </a:defRPr>
            </a:pPr>
            <a:r>
              <a:t>MVP estimate: typically 8-12 weeks depending on media and voice scope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latin typeface="Aptos Display"/>
              </a:defRPr>
            </a:pPr>
            <a:r>
              <a:t>Recommended Build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400">
                <a:latin typeface="Aptos"/>
              </a:defRPr>
            </a:pPr>
            <a:r>
              <a:t>Frontend: React + TypeScript + Next.js</a:t>
            </a:r>
          </a:p>
          <a:p>
            <a:pPr>
              <a:spcAft>
                <a:spcPts val="1000"/>
              </a:spcAft>
              <a:defRPr sz="2400">
                <a:latin typeface="Aptos"/>
              </a:defRPr>
            </a:pPr>
            <a:r>
              <a:t>Backend: Node.js services with websocket support</a:t>
            </a:r>
          </a:p>
          <a:p>
            <a:pPr>
              <a:spcAft>
                <a:spcPts val="1000"/>
              </a:spcAft>
              <a:defRPr sz="2400">
                <a:latin typeface="Aptos"/>
              </a:defRPr>
            </a:pPr>
            <a:r>
              <a:t>Data: PostgreSQL + Redis for caching and pubsub</a:t>
            </a:r>
          </a:p>
          <a:p>
            <a:pPr>
              <a:spcAft>
                <a:spcPts val="1000"/>
              </a:spcAft>
              <a:defRPr sz="2400">
                <a:latin typeface="Aptos"/>
              </a:defRPr>
            </a:pPr>
            <a:r>
              <a:t>Search: Meilisearch or Elasticsearch depending scale</a:t>
            </a:r>
          </a:p>
          <a:p>
            <a:pPr>
              <a:spcAft>
                <a:spcPts val="1000"/>
              </a:spcAft>
              <a:defRPr sz="2400">
                <a:latin typeface="Aptos"/>
              </a:defRPr>
            </a:pPr>
            <a:r>
              <a:t>Deploy: Vercel + managed database platform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latin typeface="Aptos Display"/>
              </a:defRPr>
            </a:pPr>
            <a:r>
              <a:t>Execution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400">
                <a:latin typeface="Aptos"/>
              </a:defRPr>
            </a:pPr>
            <a:r>
              <a:t>Start with one polished core workflow before expanding feature count</a:t>
            </a:r>
          </a:p>
          <a:p>
            <a:pPr>
              <a:spcAft>
                <a:spcPts val="1000"/>
              </a:spcAft>
              <a:defRPr sz="2400">
                <a:latin typeface="Aptos"/>
              </a:defRPr>
            </a:pPr>
            <a:r>
              <a:t>Define strict scope boundaries per sprint to prevent feature creep</a:t>
            </a:r>
          </a:p>
          <a:p>
            <a:pPr>
              <a:spcAft>
                <a:spcPts val="1000"/>
              </a:spcAft>
              <a:defRPr sz="2400">
                <a:latin typeface="Aptos"/>
              </a:defRPr>
            </a:pPr>
            <a:r>
              <a:t>Add observability early (latency/error dashboards + event logs)</a:t>
            </a:r>
          </a:p>
          <a:p>
            <a:pPr>
              <a:spcAft>
                <a:spcPts val="1000"/>
              </a:spcAft>
              <a:defRPr sz="2400">
                <a:latin typeface="Aptos"/>
              </a:defRPr>
            </a:pPr>
            <a:r>
              <a:t>Treat UX performance as a product feature from day one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latin typeface="Aptos Display"/>
              </a:defRPr>
            </a:pPr>
            <a:r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400">
                <a:latin typeface="Aptos"/>
              </a:defRPr>
            </a:pPr>
            <a:r>
              <a:t>Distributed state management and conflict handling</a:t>
            </a:r>
          </a:p>
          <a:p>
            <a:pPr>
              <a:spcAft>
                <a:spcPts val="1000"/>
              </a:spcAft>
              <a:defRPr sz="2400">
                <a:latin typeface="Aptos"/>
              </a:defRPr>
            </a:pPr>
            <a:r>
              <a:t>Realtime collaboration architecture and scaling constraints</a:t>
            </a:r>
          </a:p>
          <a:p>
            <a:pPr>
              <a:spcAft>
                <a:spcPts val="1000"/>
              </a:spcAft>
              <a:defRPr sz="2400">
                <a:latin typeface="Aptos"/>
              </a:defRPr>
            </a:pPr>
            <a:r>
              <a:t>Production-quality product UX and interaction design systems</a:t>
            </a:r>
          </a:p>
          <a:p>
            <a:pPr>
              <a:spcAft>
                <a:spcPts val="1000"/>
              </a:spcAft>
              <a:defRPr sz="2400">
                <a:latin typeface="Aptos"/>
              </a:defRPr>
            </a:pPr>
            <a:r>
              <a:t>Deployment-readiness with robust data models and auth patterns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latin typeface="Aptos Display"/>
              </a:defRPr>
            </a:pPr>
            <a:r>
              <a:t>Reference 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400">
                <a:latin typeface="Aptos"/>
              </a:defRPr>
            </a:pPr>
            <a:r>
              <a:t>Linear: https://linear.app</a:t>
            </a:r>
          </a:p>
          <a:p>
            <a:pPr>
              <a:spcAft>
                <a:spcPts val="1000"/>
              </a:spcAft>
              <a:defRPr sz="2400">
                <a:latin typeface="Aptos"/>
              </a:defRPr>
            </a:pPr>
            <a:r>
              <a:t>Notion: https://notion.so</a:t>
            </a:r>
          </a:p>
          <a:p>
            <a:pPr>
              <a:spcAft>
                <a:spcPts val="1000"/>
              </a:spcAft>
              <a:defRPr sz="2400">
                <a:latin typeface="Aptos"/>
              </a:defRPr>
            </a:pPr>
            <a:r>
              <a:t>Slack: https://slack.com</a:t>
            </a:r>
          </a:p>
          <a:p>
            <a:pPr>
              <a:spcAft>
                <a:spcPts val="1000"/>
              </a:spcAft>
              <a:defRPr sz="2400">
                <a:latin typeface="Aptos"/>
              </a:defRPr>
            </a:pPr>
            <a:r>
              <a:t>Martin Alderson article: attack-of-the-clones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latin typeface="Aptos Display"/>
              </a:defRPr>
            </a:pPr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400">
                <a:latin typeface="Aptos"/>
              </a:defRPr>
            </a:pPr>
            <a:r>
              <a:t>Select one Tier 1 target based on your current skill baseline</a:t>
            </a:r>
          </a:p>
          <a:p>
            <a:pPr>
              <a:spcAft>
                <a:spcPts val="1000"/>
              </a:spcAft>
              <a:defRPr sz="2400">
                <a:latin typeface="Aptos"/>
              </a:defRPr>
            </a:pPr>
            <a:r>
              <a:t>Commit to a realistic 8-12 week execution plan</a:t>
            </a:r>
          </a:p>
          <a:p>
            <a:pPr>
              <a:spcAft>
                <a:spcPts val="1000"/>
              </a:spcAft>
              <a:defRPr sz="2400">
                <a:latin typeface="Aptos"/>
              </a:defRPr>
            </a:pPr>
            <a:r>
              <a:t>Track learning milestones per technical challenge area</a:t>
            </a:r>
          </a:p>
          <a:p>
            <a:pPr>
              <a:spcAft>
                <a:spcPts val="1000"/>
              </a:spcAft>
              <a:defRPr sz="2400">
                <a:latin typeface="Aptos"/>
              </a:defRPr>
            </a:pPr>
            <a:r>
              <a:t>Ship MVP publicly to maximize portfolio value and feedback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